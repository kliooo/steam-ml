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41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1" r:id="rId23"/>
    <p:sldId id="283" r:id="rId24"/>
    <p:sldId id="284" r:id="rId25"/>
    <p:sldId id="285" r:id="rId26"/>
    <p:sldId id="286" r:id="rId27"/>
    <p:sldId id="291" r:id="rId28"/>
    <p:sldId id="279" r:id="rId29"/>
    <p:sldId id="282" r:id="rId30"/>
    <p:sldId id="287" r:id="rId31"/>
    <p:sldId id="288" r:id="rId32"/>
    <p:sldId id="289" r:id="rId33"/>
    <p:sldId id="290" r:id="rId34"/>
    <p:sldId id="292" r:id="rId35"/>
    <p:sldId id="293" r:id="rId36"/>
    <p:sldId id="294" r:id="rId37"/>
    <p:sldId id="296" r:id="rId38"/>
    <p:sldId id="295" r:id="rId39"/>
    <p:sldId id="297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  <a:srgbClr val="525252"/>
    <a:srgbClr val="FFFFFF"/>
    <a:srgbClr val="49C5F1"/>
    <a:srgbClr val="11ADE5"/>
    <a:srgbClr val="BB5623"/>
    <a:srgbClr val="0F94C3"/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D7985-82C7-43C0-A6C3-D81EA4279D6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7B9C6-6A9D-4B79-A9B5-7BD457BEB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902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72860" y="2133600"/>
            <a:ext cx="11301653" cy="1279931"/>
          </a:xfrm>
        </p:spPr>
        <p:txBody>
          <a:bodyPr anchor="b"/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58813" y="3541508"/>
            <a:ext cx="11315700" cy="454573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664924" y="5434342"/>
            <a:ext cx="11309589" cy="50958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Фамилия Имя Отчество автора презентации</a:t>
            </a:r>
          </a:p>
        </p:txBody>
      </p:sp>
      <p:sp>
        <p:nvSpPr>
          <p:cNvPr id="18" name="Текст 17"/>
          <p:cNvSpPr>
            <a:spLocks noGrp="1"/>
          </p:cNvSpPr>
          <p:nvPr>
            <p:ph type="body" sz="quarter" idx="11" hasCustomPrompt="1"/>
          </p:nvPr>
        </p:nvSpPr>
        <p:spPr>
          <a:xfrm>
            <a:off x="658813" y="5969000"/>
            <a:ext cx="11315700" cy="344488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ru-RU"/>
              <a:t>должность</a:t>
            </a:r>
          </a:p>
        </p:txBody>
      </p:sp>
      <p:pic>
        <p:nvPicPr>
          <p:cNvPr id="1026" name="Picture 2" descr="\\ad.pu.ru\RECTORAT\УСО\ДИЗАЙНЕРЫ\300 лет СПбГУ\300 лет логотипы все варианты\Logo 300 let classic whit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07" y="436563"/>
            <a:ext cx="3773202" cy="115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886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72860" y="2133600"/>
            <a:ext cx="11301653" cy="1279931"/>
          </a:xfrm>
        </p:spPr>
        <p:txBody>
          <a:bodyPr anchor="b"/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58813" y="3541508"/>
            <a:ext cx="11315700" cy="454573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664924" y="5434342"/>
            <a:ext cx="11309589" cy="50958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Фамилия Имя Отчество автора презентации</a:t>
            </a:r>
          </a:p>
        </p:txBody>
      </p:sp>
      <p:sp>
        <p:nvSpPr>
          <p:cNvPr id="18" name="Текст 17"/>
          <p:cNvSpPr>
            <a:spLocks noGrp="1"/>
          </p:cNvSpPr>
          <p:nvPr>
            <p:ph type="body" sz="quarter" idx="11" hasCustomPrompt="1"/>
          </p:nvPr>
        </p:nvSpPr>
        <p:spPr>
          <a:xfrm>
            <a:off x="658813" y="5969000"/>
            <a:ext cx="11315700" cy="344488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ru-RU"/>
              <a:t>должность</a:t>
            </a:r>
          </a:p>
        </p:txBody>
      </p:sp>
      <p:pic>
        <p:nvPicPr>
          <p:cNvPr id="7" name="Picture 2" descr="\\ad.pu.ru\RECTORAT\УСО\ДИЗАЙНЕРЫ\300 лет СПбГУ\300 лет логотипы все варианты\Logo 300 let classic whit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07" y="436563"/>
            <a:ext cx="3773202" cy="115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79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Обложка раздела</a:t>
            </a:r>
            <a:br>
              <a:rPr lang="ru-RU" dirty="0"/>
            </a:br>
            <a:r>
              <a:rPr lang="ru-RU" dirty="0"/>
              <a:t>Текст заголовка (60 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831850" y="4781671"/>
            <a:ext cx="10515600" cy="130797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Подпись к заголовку если нужна (24 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75345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38125" y="159087"/>
            <a:ext cx="10303852" cy="8251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две строки (32 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9A07137-72B0-4A23-A088-06900AF20439}" type="slidenum">
              <a:rPr lang="ru-RU" smtClean="0"/>
              <a:t>‹#›</a:t>
            </a:fld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5519737" y="1268413"/>
            <a:ext cx="6454775" cy="5045075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9654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28600" y="165100"/>
            <a:ext cx="10258425" cy="819150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  <a:r>
              <a:rPr lang="en-US" dirty="0"/>
              <a:t> </a:t>
            </a:r>
            <a:r>
              <a:rPr lang="ru-RU" dirty="0"/>
              <a:t>(32 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1" y="984250"/>
            <a:ext cx="514350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28601" y="1990724"/>
            <a:ext cx="5143500" cy="43227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519737" y="984250"/>
            <a:ext cx="6454775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519737" y="2000250"/>
            <a:ext cx="6454775" cy="43132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9A07137-72B0-4A23-A088-06900AF204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537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00940" y="984249"/>
            <a:ext cx="4673574" cy="1165225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-1" y="0"/>
            <a:ext cx="6819901" cy="68580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296150" y="2149475"/>
            <a:ext cx="4678363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9A07137-72B0-4A23-A088-06900AF204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610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9A07137-72B0-4A23-A088-06900AF204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70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9A07137-72B0-4A23-A088-06900AF20439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28600" y="165100"/>
            <a:ext cx="10258425" cy="554566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Образец заголовка</a:t>
            </a:r>
            <a:r>
              <a:rPr lang="en-US" dirty="0"/>
              <a:t> </a:t>
            </a:r>
            <a:r>
              <a:rPr lang="ru-RU" dirty="0"/>
              <a:t>(32 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8" name="Текст 4"/>
          <p:cNvSpPr>
            <a:spLocks noGrp="1"/>
          </p:cNvSpPr>
          <p:nvPr>
            <p:ph type="body" sz="quarter" idx="3"/>
          </p:nvPr>
        </p:nvSpPr>
        <p:spPr>
          <a:xfrm>
            <a:off x="7541622" y="984250"/>
            <a:ext cx="442177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Текст 3"/>
          <p:cNvSpPr>
            <a:spLocks noGrp="1"/>
          </p:cNvSpPr>
          <p:nvPr>
            <p:ph type="body" sz="half" idx="2"/>
          </p:nvPr>
        </p:nvSpPr>
        <p:spPr>
          <a:xfrm>
            <a:off x="7541622" y="2149474"/>
            <a:ext cx="4421778" cy="416401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59864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546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0" y="2019301"/>
            <a:ext cx="12192000" cy="34480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" name="Группа 7"/>
          <p:cNvGrpSpPr/>
          <p:nvPr/>
        </p:nvGrpSpPr>
        <p:grpSpPr>
          <a:xfrm>
            <a:off x="12321661" y="3684546"/>
            <a:ext cx="1103562" cy="2445980"/>
            <a:chOff x="12321661" y="3684546"/>
            <a:chExt cx="1103562" cy="2445980"/>
          </a:xfrm>
        </p:grpSpPr>
        <p:sp>
          <p:nvSpPr>
            <p:cNvPr id="9" name="Прямоугольник: скругленные противолежащие углы 8"/>
            <p:cNvSpPr/>
            <p:nvPr userDrawn="1"/>
          </p:nvSpPr>
          <p:spPr>
            <a:xfrm>
              <a:off x="12321661" y="3684546"/>
              <a:ext cx="1103562" cy="422429"/>
            </a:xfrm>
            <a:prstGeom prst="round2Diag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2427169" y="3780118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175 / 44 / 34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1" name="Прямоугольник: скругленные противолежащие углы 10"/>
            <p:cNvSpPr/>
            <p:nvPr userDrawn="1"/>
          </p:nvSpPr>
          <p:spPr>
            <a:xfrm>
              <a:off x="12321661" y="4195929"/>
              <a:ext cx="1103562" cy="422429"/>
            </a:xfrm>
            <a:prstGeom prst="round2Diag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12427169" y="4291501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200 / 160 / 110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3" name="Прямоугольник: скругленные противолежащие углы 12"/>
            <p:cNvSpPr/>
            <p:nvPr userDrawn="1"/>
          </p:nvSpPr>
          <p:spPr>
            <a:xfrm>
              <a:off x="12321661" y="4699985"/>
              <a:ext cx="1103562" cy="422429"/>
            </a:xfrm>
            <a:prstGeom prst="round2Diag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12427169" y="4795557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201 / 188 / 171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5" name="Прямоугольник: скругленные противолежащие углы 14"/>
            <p:cNvSpPr/>
            <p:nvPr userDrawn="1"/>
          </p:nvSpPr>
          <p:spPr>
            <a:xfrm>
              <a:off x="12321661" y="5204041"/>
              <a:ext cx="1103562" cy="422429"/>
            </a:xfrm>
            <a:prstGeom prst="round2Diag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/>
            <p:cNvSpPr txBox="1"/>
            <p:nvPr userDrawn="1"/>
          </p:nvSpPr>
          <p:spPr>
            <a:xfrm>
              <a:off x="12427169" y="5299613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135 / 135 / 135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7" name="Прямоугольник: скругленные противолежащие углы 16"/>
            <p:cNvSpPr/>
            <p:nvPr userDrawn="1"/>
          </p:nvSpPr>
          <p:spPr>
            <a:xfrm>
              <a:off x="12321661" y="5708097"/>
              <a:ext cx="1103562" cy="422429"/>
            </a:xfrm>
            <a:prstGeom prst="round2DiagRect">
              <a:avLst/>
            </a:prstGeom>
            <a:solidFill>
              <a:srgbClr val="8D3F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2427169" y="5803669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141 / 63 / 63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</p:grpSp>
      <p:sp>
        <p:nvSpPr>
          <p:cNvPr id="22" name="Текст 21"/>
          <p:cNvSpPr>
            <a:spLocks noGrp="1"/>
          </p:cNvSpPr>
          <p:nvPr>
            <p:ph type="body" sz="quarter" idx="13" hasCustomPrompt="1"/>
          </p:nvPr>
        </p:nvSpPr>
        <p:spPr>
          <a:xfrm>
            <a:off x="658813" y="2876550"/>
            <a:ext cx="4713287" cy="15430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Санкт-Петербург, </a:t>
            </a:r>
            <a:br>
              <a:rPr lang="ru-RU"/>
            </a:br>
            <a:r>
              <a:rPr lang="ru-RU"/>
              <a:t>Университетская наб., 7-9</a:t>
            </a:r>
            <a:br>
              <a:rPr lang="ru-RU"/>
            </a:br>
            <a:r>
              <a:rPr lang="ru-RU"/>
              <a:t>тел.: +7 (812) 360 60 30</a:t>
            </a:r>
            <a:endParaRPr lang="en-US"/>
          </a:p>
        </p:txBody>
      </p:sp>
      <p:sp>
        <p:nvSpPr>
          <p:cNvPr id="23" name="Заголовок 1"/>
          <p:cNvSpPr txBox="1"/>
          <p:nvPr/>
        </p:nvSpPr>
        <p:spPr>
          <a:xfrm>
            <a:off x="10050463" y="5929313"/>
            <a:ext cx="1665287" cy="5016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spbu.ru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4" y="675239"/>
            <a:ext cx="2568644" cy="789472"/>
          </a:xfrm>
          <a:prstGeom prst="rect">
            <a:avLst/>
          </a:prstGeom>
        </p:spPr>
      </p:pic>
      <p:sp>
        <p:nvSpPr>
          <p:cNvPr id="25" name="Текст 21"/>
          <p:cNvSpPr>
            <a:spLocks noGrp="1"/>
          </p:cNvSpPr>
          <p:nvPr>
            <p:ph type="body" sz="quarter" idx="14" hasCustomPrompt="1"/>
          </p:nvPr>
        </p:nvSpPr>
        <p:spPr>
          <a:xfrm>
            <a:off x="5519936" y="2876550"/>
            <a:ext cx="4713287" cy="15430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mail@spbu.ru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64709" y="2154089"/>
            <a:ext cx="18674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1173515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Вертикальный 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019301"/>
            <a:ext cx="12192000" cy="3448050"/>
          </a:xfrm>
          <a:prstGeom prst="rect">
            <a:avLst/>
          </a:prstGeom>
          <a:solidFill>
            <a:schemeClr val="bg2">
              <a:lumMod val="9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" name="Группа 7"/>
          <p:cNvGrpSpPr/>
          <p:nvPr/>
        </p:nvGrpSpPr>
        <p:grpSpPr>
          <a:xfrm>
            <a:off x="12321661" y="3684546"/>
            <a:ext cx="1103562" cy="2445980"/>
            <a:chOff x="12321661" y="3684546"/>
            <a:chExt cx="1103562" cy="2445980"/>
          </a:xfrm>
        </p:grpSpPr>
        <p:sp>
          <p:nvSpPr>
            <p:cNvPr id="9" name="Прямоугольник: скругленные противолежащие углы 8"/>
            <p:cNvSpPr/>
            <p:nvPr userDrawn="1"/>
          </p:nvSpPr>
          <p:spPr>
            <a:xfrm>
              <a:off x="12321661" y="3684546"/>
              <a:ext cx="1103562" cy="422429"/>
            </a:xfrm>
            <a:prstGeom prst="round2Diag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2427169" y="3780118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175 / 44 / 34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1" name="Прямоугольник: скругленные противолежащие углы 10"/>
            <p:cNvSpPr/>
            <p:nvPr userDrawn="1"/>
          </p:nvSpPr>
          <p:spPr>
            <a:xfrm>
              <a:off x="12321661" y="4195929"/>
              <a:ext cx="1103562" cy="422429"/>
            </a:xfrm>
            <a:prstGeom prst="round2Diag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12427169" y="4291501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200 / 160 / 110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3" name="Прямоугольник: скругленные противолежащие углы 12"/>
            <p:cNvSpPr/>
            <p:nvPr userDrawn="1"/>
          </p:nvSpPr>
          <p:spPr>
            <a:xfrm>
              <a:off x="12321661" y="4699985"/>
              <a:ext cx="1103562" cy="422429"/>
            </a:xfrm>
            <a:prstGeom prst="round2Diag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12427169" y="4795557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201 / 188 / 171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5" name="Прямоугольник: скругленные противолежащие углы 14"/>
            <p:cNvSpPr/>
            <p:nvPr userDrawn="1"/>
          </p:nvSpPr>
          <p:spPr>
            <a:xfrm>
              <a:off x="12321661" y="5204041"/>
              <a:ext cx="1103562" cy="422429"/>
            </a:xfrm>
            <a:prstGeom prst="round2Diag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/>
            <p:cNvSpPr txBox="1"/>
            <p:nvPr userDrawn="1"/>
          </p:nvSpPr>
          <p:spPr>
            <a:xfrm>
              <a:off x="12427169" y="5299613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135 / 135 / 135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17" name="Прямоугольник: скругленные противолежащие углы 16"/>
            <p:cNvSpPr/>
            <p:nvPr userDrawn="1"/>
          </p:nvSpPr>
          <p:spPr>
            <a:xfrm>
              <a:off x="12321661" y="5708097"/>
              <a:ext cx="1103562" cy="422429"/>
            </a:xfrm>
            <a:prstGeom prst="round2DiagRect">
              <a:avLst/>
            </a:prstGeom>
            <a:solidFill>
              <a:srgbClr val="8D3F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2427169" y="5803669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141 / 63 / 63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</p:grpSp>
      <p:sp>
        <p:nvSpPr>
          <p:cNvPr id="22" name="Текст 21"/>
          <p:cNvSpPr>
            <a:spLocks noGrp="1"/>
          </p:cNvSpPr>
          <p:nvPr>
            <p:ph type="body" sz="quarter" idx="13" hasCustomPrompt="1"/>
          </p:nvPr>
        </p:nvSpPr>
        <p:spPr>
          <a:xfrm>
            <a:off x="658813" y="2876550"/>
            <a:ext cx="4713287" cy="15430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Санкт-Петербург, </a:t>
            </a:r>
            <a:br>
              <a:rPr lang="ru-RU"/>
            </a:br>
            <a:r>
              <a:rPr lang="ru-RU"/>
              <a:t>Университетская наб., 7-9</a:t>
            </a:r>
            <a:br>
              <a:rPr lang="ru-RU"/>
            </a:br>
            <a:r>
              <a:rPr lang="ru-RU"/>
              <a:t>тел.: +7 (812) 360 60 30</a:t>
            </a:r>
            <a:endParaRPr lang="en-US"/>
          </a:p>
        </p:txBody>
      </p:sp>
      <p:sp>
        <p:nvSpPr>
          <p:cNvPr id="23" name="Заголовок 1"/>
          <p:cNvSpPr txBox="1"/>
          <p:nvPr/>
        </p:nvSpPr>
        <p:spPr>
          <a:xfrm>
            <a:off x="10050463" y="5929313"/>
            <a:ext cx="1665287" cy="5016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spbu.ru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4" y="675239"/>
            <a:ext cx="2568644" cy="789472"/>
          </a:xfrm>
          <a:prstGeom prst="rect">
            <a:avLst/>
          </a:prstGeom>
        </p:spPr>
      </p:pic>
      <p:sp>
        <p:nvSpPr>
          <p:cNvPr id="25" name="Текст 21"/>
          <p:cNvSpPr>
            <a:spLocks noGrp="1"/>
          </p:cNvSpPr>
          <p:nvPr>
            <p:ph type="body" sz="quarter" idx="14" hasCustomPrompt="1"/>
          </p:nvPr>
        </p:nvSpPr>
        <p:spPr>
          <a:xfrm>
            <a:off x="5519936" y="2876550"/>
            <a:ext cx="4713287" cy="15430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mail@spbu.ru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64709" y="2154089"/>
            <a:ext cx="18674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240221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263"/>
          <a:stretch>
            <a:fillRect/>
          </a:stretch>
        </p:blipFill>
        <p:spPr>
          <a:xfrm>
            <a:off x="9877789" y="0"/>
            <a:ext cx="2314212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159087"/>
            <a:ext cx="10303852" cy="5406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2 строки (32 </a:t>
            </a:r>
            <a:r>
              <a:rPr lang="en-US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38125" y="1268414"/>
            <a:ext cx="11777702" cy="5045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56376" y="6460602"/>
            <a:ext cx="663632" cy="239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B9A07137-72B0-4A23-A088-06900AF20439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074" y="259539"/>
            <a:ext cx="1303494" cy="430489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 flipV="1">
            <a:off x="11456377" y="6699738"/>
            <a:ext cx="735623" cy="67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Группа 3"/>
          <p:cNvGrpSpPr/>
          <p:nvPr/>
        </p:nvGrpSpPr>
        <p:grpSpPr>
          <a:xfrm>
            <a:off x="12353840" y="159087"/>
            <a:ext cx="1103562" cy="2966485"/>
            <a:chOff x="12321661" y="3684546"/>
            <a:chExt cx="1103562" cy="2966485"/>
          </a:xfrm>
        </p:grpSpPr>
        <p:sp>
          <p:nvSpPr>
            <p:cNvPr id="12" name="Прямоугольник: скругленные противолежащие углы 11"/>
            <p:cNvSpPr/>
            <p:nvPr userDrawn="1"/>
          </p:nvSpPr>
          <p:spPr>
            <a:xfrm>
              <a:off x="12321661" y="3684546"/>
              <a:ext cx="1103562" cy="422429"/>
            </a:xfrm>
            <a:prstGeom prst="round2Diag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/>
            <p:cNvSpPr txBox="1"/>
            <p:nvPr userDrawn="1"/>
          </p:nvSpPr>
          <p:spPr>
            <a:xfrm>
              <a:off x="12427169" y="3780118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175 / 44 / 34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28" name="Прямоугольник: скругленные противолежащие углы 27"/>
            <p:cNvSpPr/>
            <p:nvPr userDrawn="1"/>
          </p:nvSpPr>
          <p:spPr>
            <a:xfrm>
              <a:off x="12321661" y="4195929"/>
              <a:ext cx="1103562" cy="422429"/>
            </a:xfrm>
            <a:prstGeom prst="round2Diag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12427169" y="4291501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200 / 160 / 110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30" name="Прямоугольник: скругленные противолежащие углы 29"/>
            <p:cNvSpPr/>
            <p:nvPr userDrawn="1"/>
          </p:nvSpPr>
          <p:spPr>
            <a:xfrm>
              <a:off x="12321661" y="4699985"/>
              <a:ext cx="1103562" cy="422429"/>
            </a:xfrm>
            <a:prstGeom prst="round2Diag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12427169" y="4795557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201 / 188 / 171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32" name="Прямоугольник: скругленные противолежащие углы 31"/>
            <p:cNvSpPr/>
            <p:nvPr userDrawn="1"/>
          </p:nvSpPr>
          <p:spPr>
            <a:xfrm>
              <a:off x="12321661" y="5204041"/>
              <a:ext cx="1103562" cy="422429"/>
            </a:xfrm>
            <a:prstGeom prst="round2Diag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TextBox 32"/>
            <p:cNvSpPr txBox="1"/>
            <p:nvPr userDrawn="1"/>
          </p:nvSpPr>
          <p:spPr>
            <a:xfrm>
              <a:off x="12427169" y="5299613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>
                  <a:solidFill>
                    <a:schemeClr val="bg1"/>
                  </a:solidFill>
                </a:rPr>
                <a:t>135 / 135 / 135</a:t>
              </a:r>
              <a:endParaRPr lang="ru-RU" sz="800" b="1">
                <a:solidFill>
                  <a:schemeClr val="bg1"/>
                </a:solidFill>
              </a:endParaRPr>
            </a:p>
          </p:txBody>
        </p:sp>
        <p:sp>
          <p:nvSpPr>
            <p:cNvPr id="34" name="Прямоугольник: скругленные противолежащие углы 33"/>
            <p:cNvSpPr/>
            <p:nvPr userDrawn="1"/>
          </p:nvSpPr>
          <p:spPr>
            <a:xfrm>
              <a:off x="12321661" y="5708097"/>
              <a:ext cx="1103562" cy="422429"/>
            </a:xfrm>
            <a:prstGeom prst="round2Diag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TextBox 34"/>
            <p:cNvSpPr txBox="1"/>
            <p:nvPr userDrawn="1"/>
          </p:nvSpPr>
          <p:spPr>
            <a:xfrm>
              <a:off x="12427169" y="5803669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 dirty="0">
                  <a:solidFill>
                    <a:schemeClr val="bg1"/>
                  </a:solidFill>
                </a:rPr>
                <a:t>135 / 135 / 135</a:t>
              </a:r>
              <a:endParaRPr lang="ru-RU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Прямоугольник: скругленные противолежащие углы 18"/>
            <p:cNvSpPr/>
            <p:nvPr userDrawn="1"/>
          </p:nvSpPr>
          <p:spPr>
            <a:xfrm>
              <a:off x="12321661" y="6228602"/>
              <a:ext cx="1103562" cy="422429"/>
            </a:xfrm>
            <a:prstGeom prst="round2Diag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12427169" y="6324174"/>
              <a:ext cx="8931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 dirty="0">
                  <a:solidFill>
                    <a:schemeClr val="bg1"/>
                  </a:solidFill>
                </a:rPr>
                <a:t>174 / 100 / 100</a:t>
              </a:r>
              <a:endParaRPr lang="ru-RU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2353840" y="3255375"/>
            <a:ext cx="16517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Пожалуйста, </a:t>
            </a:r>
            <a:b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используйте </a:t>
            </a:r>
            <a:b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400" dirty="0">
                <a:latin typeface="Segoe UI" panose="020B0502040204020203" pitchFamily="34" charset="0"/>
                <a:cs typeface="Segoe UI" panose="020B0502040204020203" pitchFamily="34" charset="0"/>
              </a:rPr>
              <a:t>цветовую гамму </a:t>
            </a:r>
            <a:b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«300 лет СПбГУ»</a:t>
            </a:r>
          </a:p>
        </p:txBody>
      </p:sp>
    </p:spTree>
    <p:extLst>
      <p:ext uri="{BB962C8B-B14F-4D97-AF65-F5344CB8AC3E}">
        <p14:creationId xmlns:p14="http://schemas.microsoft.com/office/powerpoint/2010/main" val="110694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B2731-D586-44C9-99D1-561773C4F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860" y="2913361"/>
            <a:ext cx="11301653" cy="1031278"/>
          </a:xfrm>
        </p:spPr>
        <p:txBody>
          <a:bodyPr/>
          <a:lstStyle/>
          <a:p>
            <a:r>
              <a:rPr lang="en-US" sz="6600" dirty="0">
                <a:solidFill>
                  <a:schemeClr val="accent1"/>
                </a:solidFill>
              </a:rPr>
              <a:t>Steam-ML</a:t>
            </a:r>
            <a:endParaRPr lang="ru-RU" sz="6600" dirty="0">
              <a:solidFill>
                <a:schemeClr val="accent1"/>
              </a:solidFill>
            </a:endParaRPr>
          </a:p>
        </p:txBody>
      </p:sp>
      <p:sp>
        <p:nvSpPr>
          <p:cNvPr id="6" name="Текст 3">
            <a:extLst>
              <a:ext uri="{FF2B5EF4-FFF2-40B4-BE49-F238E27FC236}">
                <a16:creationId xmlns:a16="http://schemas.microsoft.com/office/drawing/2014/main" id="{DCFE9EC4-9810-490B-800F-2AF95FFAF777}"/>
              </a:ext>
            </a:extLst>
          </p:cNvPr>
          <p:cNvSpPr txBox="1">
            <a:spLocks/>
          </p:cNvSpPr>
          <p:nvPr/>
        </p:nvSpPr>
        <p:spPr>
          <a:xfrm>
            <a:off x="672860" y="4641681"/>
            <a:ext cx="3696787" cy="12672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latin typeface="Segoe UI" panose="020B0502040204020203"/>
                <a:cs typeface="Segoe UI" panose="020B0502040204020203"/>
              </a:rPr>
              <a:t>Студенты группы 23.Б15-пу</a:t>
            </a:r>
          </a:p>
          <a:p>
            <a:r>
              <a:rPr lang="ru-RU" sz="2000" b="0" dirty="0">
                <a:latin typeface="Segoe UI" panose="020B0502040204020203"/>
                <a:cs typeface="Segoe UI" panose="020B0502040204020203"/>
              </a:rPr>
              <a:t>Абрахин Е. Д.</a:t>
            </a:r>
          </a:p>
          <a:p>
            <a:r>
              <a:rPr lang="ru-RU" sz="2000" b="0" dirty="0">
                <a:latin typeface="Segoe UI" panose="020B0502040204020203"/>
                <a:cs typeface="Segoe UI" panose="020B0502040204020203"/>
              </a:rPr>
              <a:t>Бек В. А.</a:t>
            </a:r>
            <a:endParaRPr lang="ru-RU" sz="2000" b="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5961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3CECE-F333-4A19-BA00-7CC93A3B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Доступные методы </a:t>
            </a:r>
            <a:r>
              <a:rPr lang="ru-RU" dirty="0" err="1"/>
              <a:t>парсинга</a:t>
            </a:r>
            <a:r>
              <a:rPr lang="ru-RU" dirty="0"/>
              <a:t> </a:t>
            </a:r>
            <a:r>
              <a:rPr lang="en-US" dirty="0"/>
              <a:t>Steam</a:t>
            </a:r>
            <a:r>
              <a:rPr lang="ru-RU" dirty="0"/>
              <a:t> данных</a:t>
            </a:r>
            <a:br>
              <a:rPr lang="ru-RU" dirty="0"/>
            </a:br>
            <a:r>
              <a:rPr lang="ru-RU" dirty="0" err="1"/>
              <a:t>Steam</a:t>
            </a:r>
            <a:r>
              <a:rPr lang="ru-RU" dirty="0"/>
              <a:t> Web API</a:t>
            </a:r>
            <a:br>
              <a:rPr lang="ru-RU" dirty="0"/>
            </a:b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48686AB-F4C1-4643-A569-8F5F43065272}"/>
              </a:ext>
            </a:extLst>
          </p:cNvPr>
          <p:cNvSpPr/>
          <p:nvPr/>
        </p:nvSpPr>
        <p:spPr>
          <a:xfrm>
            <a:off x="282239" y="4848726"/>
            <a:ext cx="11671637" cy="1287380"/>
          </a:xfrm>
          <a:prstGeom prst="rect">
            <a:avLst/>
          </a:prstGeom>
          <a:solidFill>
            <a:srgbClr val="434343"/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EB931-22BD-42E2-9981-97F4FAC9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4" y="1323473"/>
            <a:ext cx="11953875" cy="537543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</a:t>
            </a:r>
            <a:r>
              <a:rPr lang="ru-RU" sz="2400" b="1" dirty="0" err="1"/>
              <a:t>GetOwnedGames</a:t>
            </a:r>
            <a:r>
              <a:rPr lang="ru-RU" sz="2400" dirty="0"/>
              <a:t> — список всех игр пользователя + общее время игры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</a:t>
            </a:r>
            <a:r>
              <a:rPr lang="ru-RU" sz="2400" b="1" dirty="0" err="1"/>
              <a:t>GetRecentlyPlayedGames</a:t>
            </a:r>
            <a:r>
              <a:rPr lang="ru-RU" sz="2400" dirty="0"/>
              <a:t> — недавно сыгранные игры за последние 2 недели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</a:t>
            </a:r>
            <a:r>
              <a:rPr lang="ru-RU" sz="2400" b="1" dirty="0" err="1"/>
              <a:t>GetFriendList</a:t>
            </a:r>
            <a:r>
              <a:rPr lang="ru-RU" sz="2400" dirty="0"/>
              <a:t> — список друзей пользователя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</a:t>
            </a:r>
            <a:r>
              <a:rPr lang="ru-RU" sz="2400" b="1" dirty="0" err="1"/>
              <a:t>GetPlayerSummaries</a:t>
            </a:r>
            <a:r>
              <a:rPr lang="ru-RU" sz="2400" dirty="0"/>
              <a:t> — данные профиля (ник, аватар, страна, статус)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</a:t>
            </a:r>
            <a:r>
              <a:rPr lang="ru-RU" sz="2400" b="1" dirty="0" err="1"/>
              <a:t>GetPlayerBans</a:t>
            </a:r>
            <a:r>
              <a:rPr lang="ru-RU" sz="2400" dirty="0"/>
              <a:t> — информация о банах (VAC, игровые баны)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</a:t>
            </a:r>
            <a:r>
              <a:rPr lang="ru-RU" sz="2400" b="1" dirty="0" err="1"/>
              <a:t>GetPlayerAchievements</a:t>
            </a:r>
            <a:r>
              <a:rPr lang="ru-RU" sz="2400" dirty="0"/>
              <a:t> — достижения игрока в конкретной игре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</a:t>
            </a:r>
            <a:r>
              <a:rPr lang="ru-RU" sz="2400" b="1" dirty="0" err="1"/>
              <a:t>GetUserStatsForGame</a:t>
            </a:r>
            <a:r>
              <a:rPr lang="ru-RU" sz="2400" dirty="0"/>
              <a:t> — те же достижения, но без даты получения</a:t>
            </a:r>
            <a:endParaRPr lang="en-US" sz="2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br>
              <a:rPr lang="en-US" sz="2200" dirty="0"/>
            </a:br>
            <a:r>
              <a:rPr lang="ru-RU" sz="2200" dirty="0"/>
              <a:t>    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sz="2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"http://api.steampowered.com/</a:t>
            </a:r>
            <a:r>
              <a:rPr lang="en-US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IPlayerService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GetOwnedGames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/v0001/"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>
                <a:solidFill>
                  <a:srgbClr val="9CDCFE"/>
                </a:solidFill>
                <a:latin typeface="Consolas" panose="020B0609020204030204" pitchFamily="49" charset="0"/>
              </a:rPr>
              <a:t>  </a:t>
            </a:r>
            <a:r>
              <a:rPr lang="en-US" sz="2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ru-RU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"key"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steamApiKey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steamid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u-RU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startingSteamId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sz="2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            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include_appinfo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"format"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"json"</a:t>
            </a:r>
            <a:r>
              <a:rPr lang="ru-RU" sz="2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E775DB-0285-4EA7-AC6F-7544344F1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83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3CECE-F333-4A19-BA00-7CC93A3B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Доступные методы </a:t>
            </a:r>
            <a:r>
              <a:rPr lang="ru-RU" dirty="0" err="1"/>
              <a:t>парсинга</a:t>
            </a:r>
            <a:r>
              <a:rPr lang="ru-RU" dirty="0"/>
              <a:t> </a:t>
            </a:r>
            <a:r>
              <a:rPr lang="en-US" dirty="0"/>
              <a:t>Steam</a:t>
            </a:r>
            <a:r>
              <a:rPr lang="ru-RU" dirty="0"/>
              <a:t> данных</a:t>
            </a:r>
            <a:br>
              <a:rPr lang="ru-RU" dirty="0"/>
            </a:br>
            <a:r>
              <a:rPr lang="ru-RU" dirty="0"/>
              <a:t>Дополнительные источники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EB931-22BD-42E2-9981-97F4FAC9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1876926"/>
            <a:ext cx="11777702" cy="4436562"/>
          </a:xfrm>
        </p:spPr>
        <p:txBody>
          <a:bodyPr>
            <a:normAutofit/>
          </a:bodyPr>
          <a:lstStyle/>
          <a:p>
            <a:r>
              <a:rPr lang="ru-RU" sz="2400" dirty="0"/>
              <a:t>- </a:t>
            </a:r>
            <a:r>
              <a:rPr lang="ru-RU" sz="2400" b="1" dirty="0" err="1"/>
              <a:t>Steam</a:t>
            </a:r>
            <a:r>
              <a:rPr lang="ru-RU" sz="2400" b="1" dirty="0"/>
              <a:t> Store API (</a:t>
            </a:r>
            <a:r>
              <a:rPr lang="ru-RU" sz="2400" b="1" dirty="0" err="1"/>
              <a:t>appdetails</a:t>
            </a:r>
            <a:r>
              <a:rPr lang="ru-RU" sz="2400" b="1" dirty="0"/>
              <a:t>) </a:t>
            </a:r>
            <a:r>
              <a:rPr lang="ru-RU" sz="2400" dirty="0"/>
              <a:t>— данные страницы игры (описание, цена, скриншоты, теги)</a:t>
            </a:r>
          </a:p>
          <a:p>
            <a:r>
              <a:rPr lang="ru-RU" sz="2400" dirty="0"/>
              <a:t>- </a:t>
            </a:r>
            <a:r>
              <a:rPr lang="ru-RU" sz="2400" b="1" dirty="0" err="1"/>
              <a:t>SteamSpy</a:t>
            </a:r>
            <a:r>
              <a:rPr lang="ru-RU" sz="2400" b="1" dirty="0"/>
              <a:t> API</a:t>
            </a:r>
            <a:r>
              <a:rPr lang="ru-RU" sz="2400" dirty="0"/>
              <a:t> — аналитика игры (кол-во владельцев, теги, пики </a:t>
            </a:r>
            <a:r>
              <a:rPr lang="ru-RU" sz="2400" dirty="0" err="1"/>
              <a:t>онлайна</a:t>
            </a:r>
            <a:r>
              <a:rPr lang="ru-RU" sz="2400" dirty="0"/>
              <a:t>, отзывы)</a:t>
            </a:r>
          </a:p>
          <a:p>
            <a:r>
              <a:rPr lang="ru-RU" sz="2400" dirty="0"/>
              <a:t>- </a:t>
            </a:r>
            <a:r>
              <a:rPr lang="ru-RU" sz="2400" b="1" dirty="0" err="1"/>
              <a:t>Steam</a:t>
            </a:r>
            <a:r>
              <a:rPr lang="ru-RU" sz="2400" b="1" dirty="0"/>
              <a:t> </a:t>
            </a:r>
            <a:r>
              <a:rPr lang="ru-RU" sz="2400" b="1" dirty="0" err="1"/>
              <a:t>Reviews</a:t>
            </a:r>
            <a:r>
              <a:rPr lang="ru-RU" sz="2400" b="1" dirty="0"/>
              <a:t> API </a:t>
            </a:r>
            <a:r>
              <a:rPr lang="ru-RU" sz="2400" dirty="0"/>
              <a:t>— статистика отзывов (положительные/отрицательные, количество</a:t>
            </a:r>
            <a:r>
              <a:rPr lang="ru-RU" dirty="0"/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54C774-D0B9-491F-BC14-E3B335E8B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7996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3CECE-F333-4A19-BA00-7CC93A3B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ru-RU" dirty="0" err="1"/>
              <a:t>зезультатов</a:t>
            </a:r>
            <a:r>
              <a:rPr lang="ru-RU" dirty="0"/>
              <a:t> запроса</a:t>
            </a:r>
            <a:br>
              <a:rPr lang="ru-RU" dirty="0"/>
            </a:b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F860598-55F8-4C0F-8F4E-FEC528025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494" y="730755"/>
            <a:ext cx="8213114" cy="612724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EAA2CDB-98C5-4E8E-B0BD-530520BB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573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3CECE-F333-4A19-BA00-7CC93A3B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Парсинг</a:t>
            </a:r>
            <a:r>
              <a:rPr lang="ru-RU" dirty="0"/>
              <a:t> данных пользователей </a:t>
            </a:r>
            <a:r>
              <a:rPr lang="en-US" dirty="0"/>
              <a:t>Steam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EB931-22BD-42E2-9981-97F4FAC9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4" y="984250"/>
            <a:ext cx="11715751" cy="53292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Модуль `</a:t>
            </a:r>
            <a:r>
              <a:rPr lang="ru-RU" sz="2100" dirty="0" err="1">
                <a:latin typeface="Consolas" panose="020B0609020204030204" pitchFamily="49" charset="0"/>
              </a:rPr>
              <a:t>steamDataCollector</a:t>
            </a:r>
            <a:r>
              <a:rPr lang="ru-RU" sz="2100" dirty="0"/>
              <a:t>` собирает данные о пользователях и их игровых библиотеках через </a:t>
            </a:r>
            <a:r>
              <a:rPr lang="ru-RU" sz="2100" dirty="0" err="1"/>
              <a:t>краулинг</a:t>
            </a:r>
            <a:r>
              <a:rPr lang="ru-RU" sz="2100" dirty="0"/>
              <a:t> </a:t>
            </a:r>
            <a:r>
              <a:rPr lang="ru-RU" sz="2100" dirty="0" err="1"/>
              <a:t>Steam</a:t>
            </a:r>
            <a:r>
              <a:rPr lang="ru-RU" sz="2100" dirty="0"/>
              <a:t>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1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b="1" dirty="0"/>
              <a:t>Как работает сбор: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- Начинает с заданного пользователя и постепенно расширяет выборку через список друзей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- Для каждого найденного аккаунта запрашивает информацию о профиле и библиотеке игр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- Сбор происходит параллельно для ускорения процесса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- Поддерживает возобновление работы с предыдущей сессии и защиту от ограничений API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1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b="1" dirty="0"/>
              <a:t>Что собирается: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- Данные профиля пользователя (никнейм, страна, дата регистрации)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- Список имеющихся игр и время, проведённое в каждой из них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1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b="1" dirty="0"/>
              <a:t>Результат: </a:t>
            </a:r>
            <a:r>
              <a:rPr lang="ru-RU" sz="2100" dirty="0" err="1"/>
              <a:t>Датасет</a:t>
            </a:r>
            <a:r>
              <a:rPr lang="ru-RU" sz="2100" dirty="0"/>
              <a:t> из пользователей со статистикой их игровых предпочтений.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42B9B7-40BC-405E-A4C8-E5C4DDF5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595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3CECE-F333-4A19-BA00-7CC93A3B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Парсинг</a:t>
            </a:r>
            <a:r>
              <a:rPr lang="ru-RU" dirty="0"/>
              <a:t> данных игр </a:t>
            </a:r>
            <a:r>
              <a:rPr lang="en-US" dirty="0"/>
              <a:t>Steam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EB931-22BD-42E2-9981-97F4FAC9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984250"/>
            <a:ext cx="11777702" cy="53292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После сбора пользовательских данных модуль формирует </a:t>
            </a:r>
            <a:r>
              <a:rPr lang="ru-RU" sz="2100" dirty="0" err="1"/>
              <a:t>датасет</a:t>
            </a:r>
            <a:r>
              <a:rPr lang="ru-RU" sz="2100" dirty="0"/>
              <a:t> по всем уникальным играм, которые встречаются в библиотеках.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1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b="1" dirty="0"/>
              <a:t>Как работает сбор: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- Извлекает все уникальные идентификаторы игр из собранных пользовательских библиотек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- Для каждой игры запрашивает расширенную информацию из внешнего источника (</a:t>
            </a:r>
            <a:r>
              <a:rPr lang="ru-RU" sz="2100" dirty="0" err="1"/>
              <a:t>SteamSpy</a:t>
            </a:r>
            <a:r>
              <a:rPr lang="ru-RU" sz="2100" dirty="0"/>
              <a:t>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- Сбор выполняется параллельно для повышения скорости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1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b="1" dirty="0"/>
              <a:t>Что собирается: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- Основная информация об игре (название, жанр, поддерживаемые языки)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- Статистические данные (количество владельцев, количество отзывов)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dirty="0"/>
              <a:t>- Дополнительные метрики (среднее и медианное время игры, популярные теги)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1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100" b="1" dirty="0"/>
              <a:t>Результат: </a:t>
            </a:r>
            <a:r>
              <a:rPr lang="ru-RU" sz="2100" dirty="0" err="1"/>
              <a:t>Датасет</a:t>
            </a:r>
            <a:r>
              <a:rPr lang="ru-RU" sz="2100" dirty="0"/>
              <a:t> из игр со статистикой и метаданными.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5BCEBC-2AFB-4298-B468-79FC3252B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316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3CECE-F333-4A19-BA00-7CC93A3B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Собранные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EB931-22BD-42E2-9981-97F4FAC9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984250"/>
            <a:ext cx="11777702" cy="53292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В рамках проекта было собрано два основных </a:t>
            </a:r>
            <a:r>
              <a:rPr lang="ru-RU" sz="2400" dirty="0" err="1"/>
              <a:t>датасета</a:t>
            </a:r>
            <a:r>
              <a:rPr lang="ru-RU" sz="2400" dirty="0"/>
              <a:t>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4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b="1" dirty="0" err="1"/>
              <a:t>Датасет</a:t>
            </a:r>
            <a:r>
              <a:rPr lang="ru-RU" sz="2400" b="1" dirty="0"/>
              <a:t> пользователей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Всего профилей: </a:t>
            </a:r>
            <a:r>
              <a:rPr lang="ru-RU" sz="2400" b="1" dirty="0"/>
              <a:t>40 000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Публичных профилей (доступны для анализа): </a:t>
            </a:r>
            <a:r>
              <a:rPr lang="ru-RU" sz="2400" b="1" dirty="0"/>
              <a:t>20 390 </a:t>
            </a:r>
            <a:r>
              <a:rPr lang="ru-RU" sz="2400" dirty="0"/>
              <a:t>(51%)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Среднее количество игр на пользователя: </a:t>
            </a:r>
            <a:r>
              <a:rPr lang="ru-RU" sz="2400" b="1" dirty="0"/>
              <a:t>83,9</a:t>
            </a:r>
            <a:r>
              <a:rPr lang="ru-RU" sz="2400" dirty="0"/>
              <a:t> (медиана — 40)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Общее количество игр у всех пользователей: </a:t>
            </a:r>
            <a:r>
              <a:rPr lang="ru-RU" sz="2400" b="1" dirty="0"/>
              <a:t>1,71 млн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Средний год создания аккаунта: </a:t>
            </a:r>
            <a:r>
              <a:rPr lang="ru-RU" sz="2400" b="1" dirty="0"/>
              <a:t>2016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4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b="1" dirty="0" err="1"/>
              <a:t>Датасет</a:t>
            </a:r>
            <a:r>
              <a:rPr lang="ru-RU" sz="2400" b="1" dirty="0"/>
              <a:t> игр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Уникальных игр: </a:t>
            </a:r>
            <a:r>
              <a:rPr lang="ru-RU" sz="2400" b="1" dirty="0"/>
              <a:t>33 233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Самая популярная игра: </a:t>
            </a:r>
            <a:r>
              <a:rPr lang="ru-RU" sz="2400" b="1" dirty="0"/>
              <a:t>Counter-Strike 2 </a:t>
            </a:r>
            <a:r>
              <a:rPr lang="ru-RU" sz="2400" dirty="0"/>
              <a:t>(владеют </a:t>
            </a:r>
            <a:r>
              <a:rPr lang="ru-RU" sz="2400" b="1" dirty="0"/>
              <a:t>19 530 </a:t>
            </a:r>
            <a:r>
              <a:rPr lang="ru-RU" sz="2400" dirty="0"/>
              <a:t>пользователей)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1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878628-135A-4655-BC62-C85CED201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616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9CBF53-3C1F-4D7A-A314-474E5E700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28" y="0"/>
            <a:ext cx="9265166" cy="6869264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AF9DFF9-A301-44A3-8ECB-D9B8B87A0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2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4F23B9-21ED-47FD-9C3F-9AA17ABE3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97" y="1"/>
            <a:ext cx="9659566" cy="68580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8C86CBF-93E4-4BB5-9254-C40D6CEF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477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E39983-466D-483D-9559-F96587C68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84" y="0"/>
            <a:ext cx="9384632" cy="683478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E84F209-BC54-4DAF-8417-4DC54DA86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766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E38BA8-81C0-45A0-BD4F-16C40C4D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58" y="0"/>
            <a:ext cx="9192126" cy="685761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983E85F-5254-4B40-AFB1-01C8DAB4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819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70BD2A-CBB7-4516-949E-085E7D035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20" y="0"/>
            <a:ext cx="9621982" cy="68580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F58D01C-CB39-4F2A-8A46-2CCD8B0C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330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1C9EB6-FFD8-46CA-BBE7-518A0C834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33" y="0"/>
            <a:ext cx="8720106" cy="68580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D1FC163-F91F-49EC-952F-333ADBD1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471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EDE817-B262-4822-828E-37D11394E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94" y="0"/>
            <a:ext cx="9212430" cy="687276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A49C11D-72BA-4082-9E54-F3BC04FC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604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681EAB-36F1-45E7-BD1D-D50756E22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13043" cy="68580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5F0CC52-A461-4914-89B7-CB18887F5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942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352893-BF86-4B1C-9806-836901396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21724" cy="68580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F48F5B-A8B0-4C45-B5BF-E17DA28D9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226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C2726F-3EC3-4B6D-BAC0-B873D35D3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0"/>
            <a:ext cx="9197389" cy="685067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545FF31-B9FD-46BD-B263-638C5F91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061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F895E0-218B-4C4A-B3B6-1DED33D02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89" y="8983"/>
            <a:ext cx="9180597" cy="684901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1C7164F-FEB3-44E1-8C00-EEE7D487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0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A8906A-CA34-4BD1-AEE7-6DEA7E002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53" y="35912"/>
            <a:ext cx="9144501" cy="682208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500CCA9-0B59-4FFE-A786-F15A7AB10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374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579C3C-2B6C-481C-8029-A80882EBB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08143"/>
            <a:ext cx="12192000" cy="604985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0B85F-4D0B-4BD9-8ABF-BB50FA40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914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3CECE-F333-4A19-BA00-7CC93A3B9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" y="159087"/>
            <a:ext cx="10012780" cy="825163"/>
          </a:xfrm>
        </p:spPr>
        <p:txBody>
          <a:bodyPr/>
          <a:lstStyle/>
          <a:p>
            <a:r>
              <a:rPr lang="ru-RU" dirty="0"/>
              <a:t>Кластеризация пользователей по стилю игры (K-</a:t>
            </a:r>
            <a:r>
              <a:rPr lang="ru-RU" dirty="0" err="1"/>
              <a:t>Means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EB931-22BD-42E2-9981-97F4FAC9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1143000"/>
            <a:ext cx="8051633" cy="5170488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400" dirty="0"/>
              <a:t>Для сегментации пользователей было построено </a:t>
            </a:r>
            <a:r>
              <a:rPr lang="ru-RU" sz="2400" b="1" dirty="0"/>
              <a:t>4 признака</a:t>
            </a:r>
            <a:r>
              <a:rPr lang="ru-RU" sz="2400" dirty="0"/>
              <a:t>, отражающих игровое поведение: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400" dirty="0"/>
              <a:t>- Количество игр в библиотеке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400" dirty="0"/>
              <a:t>- Общее наигранное время (в часах)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400" dirty="0"/>
              <a:t>- Среднее время игры на одну игру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400" dirty="0"/>
              <a:t>- Доля «долгих» игр (более 50 часов)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endParaRPr lang="ru-RU" sz="2400" dirty="0"/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400" dirty="0"/>
              <a:t>Признаки были </a:t>
            </a:r>
            <a:r>
              <a:rPr lang="ru-RU" sz="2400" b="1" dirty="0"/>
              <a:t>масштабированы</a:t>
            </a:r>
            <a:r>
              <a:rPr lang="ru-RU" sz="2400" dirty="0"/>
              <a:t> с помощью `</a:t>
            </a:r>
            <a:r>
              <a:rPr lang="ru-RU" sz="2400" dirty="0" err="1">
                <a:latin typeface="Consolas" panose="020B0609020204030204" pitchFamily="49" charset="0"/>
              </a:rPr>
              <a:t>StandardScaler</a:t>
            </a:r>
            <a:r>
              <a:rPr lang="ru-RU" sz="2400" dirty="0"/>
              <a:t>`, чтобы все переменные имели одинаковый вес.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endParaRPr lang="ru-RU" sz="2400" dirty="0"/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sz="2400" dirty="0"/>
              <a:t>Использовался метод «локтя» (</a:t>
            </a:r>
            <a:r>
              <a:rPr lang="ru-RU" sz="2400" dirty="0" err="1"/>
              <a:t>Elbow</a:t>
            </a:r>
            <a:r>
              <a:rPr lang="ru-RU" sz="2400" dirty="0"/>
              <a:t> </a:t>
            </a:r>
            <a:r>
              <a:rPr lang="ru-RU" sz="2400" dirty="0" err="1"/>
              <a:t>Method</a:t>
            </a:r>
            <a:r>
              <a:rPr lang="ru-RU" sz="2400" dirty="0"/>
              <a:t>). Оптимальным было выбрано </a:t>
            </a:r>
            <a:r>
              <a:rPr lang="ru-RU" sz="2400" b="1" dirty="0"/>
              <a:t>K = 4 кластера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84EEFE-F0A2-4B01-B767-EC0698E3EE7F}"/>
              </a:ext>
            </a:extLst>
          </p:cNvPr>
          <p:cNvSpPr txBox="1"/>
          <p:nvPr/>
        </p:nvSpPr>
        <p:spPr>
          <a:xfrm>
            <a:off x="8097252" y="1893118"/>
            <a:ext cx="2743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Результаты кластеризации:</a:t>
            </a: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D9818B7F-C704-4B56-9C72-8552C0F7A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339018"/>
              </p:ext>
            </p:extLst>
          </p:nvPr>
        </p:nvGraphicFramePr>
        <p:xfrm>
          <a:off x="8097252" y="2882865"/>
          <a:ext cx="2791327" cy="2432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928">
                  <a:extLst>
                    <a:ext uri="{9D8B030D-6E8A-4147-A177-3AD203B41FA5}">
                      <a16:colId xmlns:a16="http://schemas.microsoft.com/office/drawing/2014/main" val="3693204885"/>
                    </a:ext>
                  </a:extLst>
                </a:gridCol>
                <a:gridCol w="1772399">
                  <a:extLst>
                    <a:ext uri="{9D8B030D-6E8A-4147-A177-3AD203B41FA5}">
                      <a16:colId xmlns:a16="http://schemas.microsoft.com/office/drawing/2014/main" val="1238314592"/>
                    </a:ext>
                  </a:extLst>
                </a:gridCol>
              </a:tblGrid>
              <a:tr h="48652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Кластер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Пользователей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377788"/>
                  </a:ext>
                </a:extLst>
              </a:tr>
              <a:tr h="486522"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0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19 222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948271"/>
                  </a:ext>
                </a:extLst>
              </a:tr>
              <a:tr h="486522"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3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1 147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664332"/>
                  </a:ext>
                </a:extLst>
              </a:tr>
              <a:tr h="486522"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2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624770"/>
                  </a:ext>
                </a:extLst>
              </a:tr>
              <a:tr h="486522"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1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285443"/>
                  </a:ext>
                </a:extLst>
              </a:tr>
            </a:tbl>
          </a:graphicData>
        </a:graphic>
      </p:graphicFrame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6EC04D-F72A-4678-B860-ED86327A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202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3CECE-F333-4A19-BA00-7CC93A3B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Метод «локтя» по стилю игры (</a:t>
            </a:r>
            <a:r>
              <a:rPr lang="ru-RU" sz="3200" dirty="0" err="1"/>
              <a:t>Elbow</a:t>
            </a:r>
            <a:r>
              <a:rPr lang="ru-RU" sz="3200" dirty="0"/>
              <a:t> </a:t>
            </a:r>
            <a:r>
              <a:rPr lang="ru-RU" sz="3200" dirty="0" err="1"/>
              <a:t>Method</a:t>
            </a:r>
            <a:r>
              <a:rPr lang="ru-RU" sz="3200" dirty="0"/>
              <a:t>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70A623-06D5-4DC6-971A-064C50994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1" y="868694"/>
            <a:ext cx="11187364" cy="5989306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52D899B-45A8-424D-B997-CFD97099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979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0B85F-4D0B-4BD9-8ABF-BB50FA40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23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66930B-D8D4-40C6-9D6E-05EB2BA83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670" y="79130"/>
            <a:ext cx="12219339" cy="669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91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0B85F-4D0B-4BD9-8ABF-BB50FA40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24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AC4366-6FEA-4FD1-A6FB-7FE24CEE3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74" y="34478"/>
            <a:ext cx="9986210" cy="678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17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0B85F-4D0B-4BD9-8ABF-BB50FA40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25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3D8744-8229-4454-87F4-88B8D23A5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2" y="0"/>
            <a:ext cx="9830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27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0B85F-4D0B-4BD9-8ABF-BB50FA40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26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E0490BA-64AE-4726-AE58-327ACB1FD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203" y="0"/>
            <a:ext cx="101185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48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0B85F-4D0B-4BD9-8ABF-BB50FA40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27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634F61-3884-43E7-85F4-36167A415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51" y="0"/>
            <a:ext cx="9621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83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3CECE-F333-4A19-BA00-7CC93A3B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Кластеризация по игровым предпочтениям (теги)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EB931-22BD-42E2-9981-97F4FAC9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794085"/>
            <a:ext cx="7377864" cy="5519404"/>
          </a:xfrm>
        </p:spPr>
        <p:txBody>
          <a:bodyPr>
            <a:normAutofit/>
          </a:bodyPr>
          <a:lstStyle/>
          <a:p>
            <a:r>
              <a:rPr lang="ru-RU" sz="2400" dirty="0"/>
              <a:t>Вторая кластеризация проводилась на основе </a:t>
            </a:r>
            <a:r>
              <a:rPr lang="ru-RU" sz="2400" b="1" dirty="0"/>
              <a:t>жанровых предпочтений</a:t>
            </a:r>
            <a:r>
              <a:rPr lang="ru-RU" sz="2400" dirty="0"/>
              <a:t> пользователей.</a:t>
            </a:r>
          </a:p>
          <a:p>
            <a:endParaRPr lang="ru-RU" sz="2400" dirty="0"/>
          </a:p>
          <a:p>
            <a:r>
              <a:rPr lang="ru-RU" sz="2400" b="1" dirty="0"/>
              <a:t>Признаки:</a:t>
            </a:r>
          </a:p>
          <a:p>
            <a:r>
              <a:rPr lang="ru-RU" sz="2400" dirty="0"/>
              <a:t>- Для каждого пользователя рассчитана </a:t>
            </a:r>
            <a:r>
              <a:rPr lang="ru-RU" sz="2400" b="1" dirty="0"/>
              <a:t>нормализованная доля </a:t>
            </a:r>
            <a:r>
              <a:rPr lang="ru-RU" sz="2400" dirty="0"/>
              <a:t>каждого тега в его библиотеке</a:t>
            </a:r>
          </a:p>
          <a:p>
            <a:r>
              <a:rPr lang="ru-RU" sz="2400" dirty="0"/>
              <a:t>- Использовано более 300 тегов (Action, RPG, Strategy, </a:t>
            </a:r>
            <a:r>
              <a:rPr lang="ru-RU" sz="2400" dirty="0" err="1"/>
              <a:t>Indie</a:t>
            </a:r>
            <a:r>
              <a:rPr lang="ru-RU" sz="2400" dirty="0"/>
              <a:t> и др.)</a:t>
            </a:r>
          </a:p>
          <a:p>
            <a:endParaRPr lang="ru-RU" sz="2400" dirty="0"/>
          </a:p>
          <a:p>
            <a:r>
              <a:rPr lang="ru-RU" sz="2400" b="1" dirty="0"/>
              <a:t>Метод:</a:t>
            </a:r>
          </a:p>
          <a:p>
            <a:r>
              <a:rPr lang="ru-RU" sz="2400" dirty="0"/>
              <a:t>- K-</a:t>
            </a:r>
            <a:r>
              <a:rPr lang="ru-RU" sz="2400" dirty="0" err="1"/>
              <a:t>Means</a:t>
            </a:r>
            <a:r>
              <a:rPr lang="ru-RU" sz="2400" dirty="0"/>
              <a:t> кластеризация</a:t>
            </a:r>
          </a:p>
          <a:p>
            <a:r>
              <a:rPr lang="ru-RU" sz="2400" dirty="0"/>
              <a:t>- Количество кластеров: </a:t>
            </a:r>
            <a:r>
              <a:rPr lang="ru-RU" sz="2400" b="1" dirty="0"/>
              <a:t>K = 8</a:t>
            </a:r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AB035E-D254-4401-B6C5-B842C1C1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28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3DFD9-348D-422D-ADB7-DB48D66625C9}"/>
              </a:ext>
            </a:extLst>
          </p:cNvPr>
          <p:cNvSpPr txBox="1"/>
          <p:nvPr/>
        </p:nvSpPr>
        <p:spPr>
          <a:xfrm>
            <a:off x="8008660" y="984250"/>
            <a:ext cx="2743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181818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Результаты кластеризации: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C3BE3DEA-9CED-4F09-9E57-65ECE5077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418261"/>
              </p:ext>
            </p:extLst>
          </p:nvPr>
        </p:nvGraphicFramePr>
        <p:xfrm>
          <a:off x="8008660" y="1921879"/>
          <a:ext cx="2792664" cy="4203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332">
                  <a:extLst>
                    <a:ext uri="{9D8B030D-6E8A-4147-A177-3AD203B41FA5}">
                      <a16:colId xmlns:a16="http://schemas.microsoft.com/office/drawing/2014/main" val="1431080364"/>
                    </a:ext>
                  </a:extLst>
                </a:gridCol>
                <a:gridCol w="1396332">
                  <a:extLst>
                    <a:ext uri="{9D8B030D-6E8A-4147-A177-3AD203B41FA5}">
                      <a16:colId xmlns:a16="http://schemas.microsoft.com/office/drawing/2014/main" val="968525480"/>
                    </a:ext>
                  </a:extLst>
                </a:gridCol>
              </a:tblGrid>
              <a:tr h="445416">
                <a:tc>
                  <a:txBody>
                    <a:bodyPr/>
                    <a:lstStyle/>
                    <a:p>
                      <a:r>
                        <a:rPr lang="ru-RU" dirty="0"/>
                        <a:t>Кластер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Пользователей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8280941"/>
                  </a:ext>
                </a:extLst>
              </a:tr>
              <a:tr h="445416">
                <a:tc>
                  <a:txBody>
                    <a:bodyPr/>
                    <a:lstStyle/>
                    <a:p>
                      <a:r>
                        <a:rPr lang="ru-RU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8375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628766"/>
                  </a:ext>
                </a:extLst>
              </a:tr>
              <a:tr h="445416"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4460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882673"/>
                  </a:ext>
                </a:extLst>
              </a:tr>
              <a:tr h="445416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2172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6726530"/>
                  </a:ext>
                </a:extLst>
              </a:tr>
              <a:tr h="445416">
                <a:tc>
                  <a:txBody>
                    <a:bodyPr/>
                    <a:lstStyle/>
                    <a:p>
                      <a:r>
                        <a:rPr lang="ru-RU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1834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714905"/>
                  </a:ext>
                </a:extLst>
              </a:tr>
              <a:tr h="445416">
                <a:tc>
                  <a:txBody>
                    <a:bodyPr/>
                    <a:lstStyle/>
                    <a:p>
                      <a:r>
                        <a:rPr lang="ru-RU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1779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81768"/>
                  </a:ext>
                </a:extLst>
              </a:tr>
              <a:tr h="445416">
                <a:tc>
                  <a:txBody>
                    <a:bodyPr/>
                    <a:lstStyle/>
                    <a:p>
                      <a:r>
                        <a:rPr lang="ru-RU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843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1672319"/>
                  </a:ext>
                </a:extLst>
              </a:tr>
              <a:tr h="445416">
                <a:tc>
                  <a:txBody>
                    <a:bodyPr/>
                    <a:lstStyle/>
                    <a:p>
                      <a:r>
                        <a:rPr lang="ru-RU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534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8573922"/>
                  </a:ext>
                </a:extLst>
              </a:tr>
              <a:tr h="445416">
                <a:tc>
                  <a:txBody>
                    <a:bodyPr/>
                    <a:lstStyle/>
                    <a:p>
                      <a:r>
                        <a:rPr lang="ru-RU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024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958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3CECE-F333-4A19-BA00-7CC93A3B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Метод «локтя» по тегам (</a:t>
            </a:r>
            <a:r>
              <a:rPr lang="ru-RU" sz="3200" dirty="0" err="1"/>
              <a:t>Elbow</a:t>
            </a:r>
            <a:r>
              <a:rPr lang="ru-RU" sz="3200" dirty="0"/>
              <a:t> </a:t>
            </a:r>
            <a:r>
              <a:rPr lang="ru-RU" sz="3200" dirty="0" err="1"/>
              <a:t>Method</a:t>
            </a:r>
            <a:r>
              <a:rPr lang="ru-RU" sz="3200" dirty="0"/>
              <a:t>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0F4636-D5E4-42A2-A2B6-8C41A846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29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2A05B7-39BE-4006-9EF1-D1743951E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66" y="833437"/>
            <a:ext cx="9318728" cy="602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592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0B85F-4D0B-4BD9-8ABF-BB50FA40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30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F1E5AB-D69D-4501-8955-540182495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2" y="0"/>
            <a:ext cx="98700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35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0B85F-4D0B-4BD9-8ABF-BB50FA40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31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6FBDAD-16F7-4C46-973E-5FD49E3C1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33478" cy="686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63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0B85F-4D0B-4BD9-8ABF-BB50FA40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32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75AF1A-10B6-42EA-87A0-E9F8127B0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39" y="0"/>
            <a:ext cx="9759097" cy="680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37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0B85F-4D0B-4BD9-8ABF-BB50FA40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33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BEE74D-1E95-4B18-B028-80C0ED450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068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11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0B85F-4D0B-4BD9-8ABF-BB50FA40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34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2124B0-C78B-4BB0-B560-7DCC9B00CB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965" b="50000"/>
          <a:stretch/>
        </p:blipFill>
        <p:spPr>
          <a:xfrm>
            <a:off x="0" y="778818"/>
            <a:ext cx="12244211" cy="530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9951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020B85F-4D0B-4BD9-8ABF-BB50FA40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35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CAC65B-180E-4902-8094-50894F2167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97" t="50000" r="1"/>
          <a:stretch/>
        </p:blipFill>
        <p:spPr>
          <a:xfrm>
            <a:off x="0" y="866274"/>
            <a:ext cx="12179120" cy="531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79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3CECE-F333-4A19-BA00-7CC93A3B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Content-Based </a:t>
            </a:r>
            <a:r>
              <a:rPr lang="ru-RU" sz="3200" dirty="0" err="1"/>
              <a:t>Filtering</a:t>
            </a:r>
            <a:r>
              <a:rPr lang="ru-RU" sz="3200" dirty="0"/>
              <a:t> (на основе тегов)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EB931-22BD-42E2-9981-97F4FAC9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721894"/>
            <a:ext cx="11777702" cy="57387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b="1" dirty="0"/>
              <a:t>Принцип работы: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/>
              <a:t>- Для каждой игры берём </a:t>
            </a:r>
            <a:r>
              <a:rPr lang="ru-RU" sz="2200" b="1" dirty="0"/>
              <a:t>нормализованные веса тегов</a:t>
            </a:r>
            <a:r>
              <a:rPr lang="ru-RU" sz="2200" dirty="0"/>
              <a:t> (из </a:t>
            </a:r>
            <a:r>
              <a:rPr lang="ru-RU" sz="2200" dirty="0" err="1"/>
              <a:t>SteamSpy</a:t>
            </a:r>
            <a:r>
              <a:rPr lang="ru-RU" sz="2200" dirty="0"/>
              <a:t> / </a:t>
            </a:r>
            <a:r>
              <a:rPr lang="ru-RU" sz="2200" dirty="0" err="1"/>
              <a:t>Steam</a:t>
            </a:r>
            <a:r>
              <a:rPr lang="ru-RU" sz="2200" dirty="0"/>
              <a:t> API)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/>
              <a:t>- Для пользователя строим вектор предпочтений: взвешенная сумма тегов по наигранному времени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/>
              <a:t>- Рекомендуем игры с максимальным </a:t>
            </a:r>
            <a:r>
              <a:rPr lang="ru-RU" sz="2200" b="1" dirty="0" err="1"/>
              <a:t>cosine</a:t>
            </a:r>
            <a:r>
              <a:rPr lang="ru-RU" sz="2200" b="1" dirty="0"/>
              <a:t> </a:t>
            </a:r>
            <a:r>
              <a:rPr lang="ru-RU" sz="2200" b="1" dirty="0" err="1"/>
              <a:t>similarity</a:t>
            </a:r>
            <a:r>
              <a:rPr lang="ru-RU" sz="2200" dirty="0"/>
              <a:t> к вектору пользователя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b="1" dirty="0"/>
              <a:t>Особенности: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/>
              <a:t>- Использовано </a:t>
            </a:r>
            <a:r>
              <a:rPr lang="ru-RU" sz="2200" b="1" dirty="0"/>
              <a:t>200 самых популярных тегов</a:t>
            </a:r>
            <a:endParaRPr lang="ru-RU" sz="2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/>
              <a:t>- Учитывается только то, во что пользователь реально играл (по времени)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/>
              <a:t>- Исключаются уже имеющиеся игры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b="1" dirty="0"/>
              <a:t>Результаты оценки (</a:t>
            </a:r>
            <a:r>
              <a:rPr lang="ru-RU" sz="2200" b="1" dirty="0" err="1"/>
              <a:t>Hold-out</a:t>
            </a:r>
            <a:r>
              <a:rPr lang="ru-RU" sz="2200" b="1" dirty="0"/>
              <a:t>):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/>
              <a:t>- Precision@10: </a:t>
            </a:r>
            <a:r>
              <a:rPr lang="ru-RU" sz="2200" b="1" dirty="0"/>
              <a:t>0.0173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/>
              <a:t>- Recall@10: </a:t>
            </a:r>
            <a:r>
              <a:rPr lang="ru-RU" sz="2200" b="1" dirty="0"/>
              <a:t>0.0022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200" dirty="0"/>
              <a:t>- Оценка на 1301 пользователе (топ-10% по количеству игр)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878628-135A-4655-BC62-C85CED201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1814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3CECE-F333-4A19-BA00-7CC93A3B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err="1"/>
              <a:t>Collaborative</a:t>
            </a:r>
            <a:r>
              <a:rPr lang="ru-RU" sz="3200" dirty="0"/>
              <a:t> </a:t>
            </a:r>
            <a:r>
              <a:rPr lang="ru-RU" sz="3200" dirty="0" err="1"/>
              <a:t>Filtering</a:t>
            </a:r>
            <a:r>
              <a:rPr lang="ru-RU" sz="3200" dirty="0"/>
              <a:t> (User-Based)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EB931-22BD-42E2-9981-97F4FAC9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721895"/>
            <a:ext cx="11777702" cy="559159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b="1" dirty="0"/>
              <a:t>Принцип работы: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Строится </a:t>
            </a:r>
            <a:r>
              <a:rPr lang="ru-RU" sz="2400" b="1" dirty="0"/>
              <a:t>user-</a:t>
            </a:r>
            <a:r>
              <a:rPr lang="ru-RU" sz="2400" b="1" dirty="0" err="1"/>
              <a:t>item</a:t>
            </a:r>
            <a:r>
              <a:rPr lang="ru-RU" sz="2400" b="1" dirty="0"/>
              <a:t> матрица </a:t>
            </a:r>
            <a:r>
              <a:rPr lang="ru-RU" sz="2400" dirty="0"/>
              <a:t>(20390 пользователей × 33233 игры)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Значения = `</a:t>
            </a:r>
            <a:r>
              <a:rPr lang="ru-RU" sz="2400" dirty="0">
                <a:latin typeface="Consolas" panose="020B0609020204030204" pitchFamily="49" charset="0"/>
              </a:rPr>
              <a:t>1 + </a:t>
            </a:r>
            <a:r>
              <a:rPr lang="ru-RU" sz="2400" dirty="0" err="1">
                <a:latin typeface="Consolas" panose="020B0609020204030204" pitchFamily="49" charset="0"/>
              </a:rPr>
              <a:t>log</a:t>
            </a:r>
            <a:r>
              <a:rPr lang="ru-RU" sz="2400" dirty="0">
                <a:latin typeface="Consolas" panose="020B0609020204030204" pitchFamily="49" charset="0"/>
              </a:rPr>
              <a:t>(</a:t>
            </a:r>
            <a:r>
              <a:rPr lang="ru-RU" sz="2400" dirty="0" err="1">
                <a:latin typeface="Consolas" panose="020B0609020204030204" pitchFamily="49" charset="0"/>
              </a:rPr>
              <a:t>playtimeHours</a:t>
            </a:r>
            <a:r>
              <a:rPr lang="ru-RU" sz="2400" dirty="0">
                <a:latin typeface="Consolas" panose="020B0609020204030204" pitchFamily="49" charset="0"/>
              </a:rPr>
              <a:t>)</a:t>
            </a:r>
            <a:r>
              <a:rPr lang="ru-RU" sz="2400" dirty="0"/>
              <a:t>`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Поиск </a:t>
            </a:r>
            <a:r>
              <a:rPr lang="ru-RU" sz="2400" b="1" dirty="0"/>
              <a:t>похожих пользователей </a:t>
            </a:r>
            <a:r>
              <a:rPr lang="ru-RU" sz="2400" dirty="0"/>
              <a:t>через KNN (</a:t>
            </a:r>
            <a:r>
              <a:rPr lang="ru-RU" sz="2400" dirty="0" err="1"/>
              <a:t>cosine</a:t>
            </a:r>
            <a:r>
              <a:rPr lang="ru-RU" sz="2400" dirty="0"/>
              <a:t> </a:t>
            </a:r>
            <a:r>
              <a:rPr lang="ru-RU" sz="2400" dirty="0" err="1"/>
              <a:t>similarity</a:t>
            </a:r>
            <a:r>
              <a:rPr lang="ru-RU" sz="2400" dirty="0"/>
              <a:t>, 15 соседей)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Рекомендуются игры, которые нравятся похожим пользователям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4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b="1" dirty="0"/>
              <a:t>Особенности: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Учитывает </a:t>
            </a:r>
            <a:r>
              <a:rPr lang="ru-RU" sz="2400" b="1" dirty="0"/>
              <a:t>поведение</a:t>
            </a:r>
            <a:r>
              <a:rPr lang="ru-RU" sz="2400" dirty="0"/>
              <a:t> других игроков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Хорошо работает при наличии достаточной истории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4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b="1" dirty="0"/>
              <a:t>Результаты оценки (</a:t>
            </a:r>
            <a:r>
              <a:rPr lang="ru-RU" sz="2400" b="1" dirty="0" err="1"/>
              <a:t>Hold-out</a:t>
            </a:r>
            <a:r>
              <a:rPr lang="ru-RU" sz="2400" b="1" dirty="0"/>
              <a:t>):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Precision@10: </a:t>
            </a:r>
            <a:r>
              <a:rPr lang="ru-RU" sz="2400" b="1" dirty="0"/>
              <a:t>0.0689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Recall@10: </a:t>
            </a:r>
            <a:r>
              <a:rPr lang="ru-RU" sz="2400" b="1" dirty="0"/>
              <a:t>0.0097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Оценка на 1400 пользователях (топ-10% по количеству игр)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878628-135A-4655-BC62-C85CED201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5216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3CECE-F333-4A19-BA00-7CC93A3B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Гибридная модель (Content + </a:t>
            </a:r>
            <a:r>
              <a:rPr lang="ru-RU" sz="3200" dirty="0" err="1"/>
              <a:t>Collaborative</a:t>
            </a:r>
            <a:r>
              <a:rPr lang="ru-RU" sz="3200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EB931-22BD-42E2-9981-97F4FAC9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782053"/>
            <a:ext cx="11777702" cy="553143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b="1" dirty="0"/>
              <a:t>Принцип работы: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Комбинирует два подхода: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  - </a:t>
            </a:r>
            <a:r>
              <a:rPr lang="ru-RU" sz="2400" b="1" dirty="0"/>
              <a:t>Content-Based</a:t>
            </a:r>
            <a:r>
              <a:rPr lang="ru-RU" sz="2400" dirty="0"/>
              <a:t> (вес 0.3) — теги и предпочтения пользователя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  - </a:t>
            </a:r>
            <a:r>
              <a:rPr lang="ru-RU" sz="2400" b="1" dirty="0" err="1"/>
              <a:t>Collaborative</a:t>
            </a:r>
            <a:r>
              <a:rPr lang="ru-RU" sz="2400" dirty="0"/>
              <a:t> (вес 0.7) — поведение похожих пользователей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Нормализация оценок + взвешенная сумма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4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b="1" dirty="0"/>
              <a:t>Результаты оценки: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Precision@10: </a:t>
            </a:r>
            <a:r>
              <a:rPr lang="ru-RU" sz="2400" b="1" dirty="0"/>
              <a:t>0.0676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Recall@10: </a:t>
            </a:r>
            <a:r>
              <a:rPr lang="ru-RU" sz="2400" b="1" dirty="0"/>
              <a:t>0.0095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ru-RU" sz="24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b="1" dirty="0"/>
              <a:t>Преимущества гибридного подхода: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Лучший баланс между персонализацией и точностью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Частично решает проблему холодного старта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sz="2400" dirty="0"/>
              <a:t>- Более стабильные и разнообразные рекомендации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878628-135A-4655-BC62-C85CED201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7137-72B0-4A23-A088-06900AF20439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7523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75F52-158C-46D0-888D-761EDA6C2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860" y="2603482"/>
            <a:ext cx="11301653" cy="1114275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457BE5-9EDA-427F-8960-48B82FFFD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2860" y="4964459"/>
            <a:ext cx="11309589" cy="81004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ru-RU" dirty="0"/>
              <a:t>Ссылка на репозиторий проекта</a:t>
            </a:r>
            <a:r>
              <a:rPr lang="en-US" dirty="0"/>
              <a:t>:</a:t>
            </a:r>
            <a:br>
              <a:rPr lang="en-US" dirty="0"/>
            </a:br>
            <a:r>
              <a:rPr lang="en-US" b="0" dirty="0"/>
              <a:t>https://github.com/FasterXaos/Steam-ML</a:t>
            </a:r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1252130107"/>
      </p:ext>
    </p:extLst>
  </p:cSld>
  <p:clrMapOvr>
    <a:masterClrMapping/>
  </p:clrMapOvr>
</p:sld>
</file>

<file path=ppt/theme/theme1.xml><?xml version="1.0" encoding="utf-8"?>
<a:theme xmlns:a="http://schemas.openxmlformats.org/drawingml/2006/main" name="300-presentation-new1">
  <a:themeElements>
    <a:clrScheme name="300 лет СПбГУ">
      <a:dk1>
        <a:srgbClr val="181818"/>
      </a:dk1>
      <a:lt1>
        <a:sysClr val="window" lastClr="FFFFFF"/>
      </a:lt1>
      <a:dk2>
        <a:srgbClr val="C9BCAB"/>
      </a:dk2>
      <a:lt2>
        <a:srgbClr val="FBF9F7"/>
      </a:lt2>
      <a:accent1>
        <a:srgbClr val="AF2C22"/>
      </a:accent1>
      <a:accent2>
        <a:srgbClr val="C8A06E"/>
      </a:accent2>
      <a:accent3>
        <a:srgbClr val="8D3F3F"/>
      </a:accent3>
      <a:accent4>
        <a:srgbClr val="C9BCAB"/>
      </a:accent4>
      <a:accent5>
        <a:srgbClr val="878787"/>
      </a:accent5>
      <a:accent6>
        <a:srgbClr val="AE6464"/>
      </a:accent6>
      <a:hlink>
        <a:srgbClr val="245590"/>
      </a:hlink>
      <a:folHlink>
        <a:srgbClr val="088FE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ПромежуточныйНИР</Template>
  <TotalTime>383</TotalTime>
  <Words>1033</Words>
  <Application>Microsoft Office PowerPoint</Application>
  <PresentationFormat>Широкоэкранный</PresentationFormat>
  <Paragraphs>198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4" baseType="lpstr">
      <vt:lpstr>Arial</vt:lpstr>
      <vt:lpstr>Calibri</vt:lpstr>
      <vt:lpstr>Consolas</vt:lpstr>
      <vt:lpstr>Segoe UI</vt:lpstr>
      <vt:lpstr>300-presentation-new1</vt:lpstr>
      <vt:lpstr>Steam-ML</vt:lpstr>
      <vt:lpstr>Доступные методы парсинга Steam данных Steam Web API </vt:lpstr>
      <vt:lpstr>Доступные методы парсинга Steam данных Дополнительные источники </vt:lpstr>
      <vt:lpstr>Пример зезультатов запроса </vt:lpstr>
      <vt:lpstr>Парсинг данных пользователей Steam</vt:lpstr>
      <vt:lpstr>Парсинг данных игр Steam</vt:lpstr>
      <vt:lpstr>Собранные данные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Кластеризация пользователей по стилю игры (K-Means)</vt:lpstr>
      <vt:lpstr>Метод «локтя» по стилю игры (Elbow Method)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Кластеризация по игровым предпочтениям (теги)</vt:lpstr>
      <vt:lpstr>Метод «локтя» по тегам (Elbow Method)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Content-Based Filtering (на основе тегов)</vt:lpstr>
      <vt:lpstr>Collaborative Filtering (User-Based)</vt:lpstr>
      <vt:lpstr>Гибридная модель (Content + Collaborative)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Steam-ML</dc:title>
  <dc:creator>Faster Xaos</dc:creator>
  <cp:lastModifiedBy>Faster Xaos</cp:lastModifiedBy>
  <cp:revision>21</cp:revision>
  <dcterms:created xsi:type="dcterms:W3CDTF">2026-05-11T13:49:36Z</dcterms:created>
  <dcterms:modified xsi:type="dcterms:W3CDTF">2026-05-12T10:14:01Z</dcterms:modified>
</cp:coreProperties>
</file>